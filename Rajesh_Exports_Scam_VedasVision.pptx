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384048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E6A3"/>
                </a:solidFill>
              </a:rPr>
              <a:t>🚨  INDIA'S BIGGEST MARKET SCAM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D4AF37"/>
                </a:solidFill>
              </a:rPr>
              <a:t>RAJESH EXPORTS
FRAUD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7033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3B3B"/>
                </a:solidFill>
              </a:rPr>
              <a:t>₹15.15 LAKH CRORE REVENUE SCAM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3434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CCCCCC"/>
                </a:solidFill>
              </a:rPr>
              <a:t>How India's Top Gold Exporter Allegedly Fabricated 99% of Its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E6A3"/>
                </a:solidFill>
              </a:rPr>
              <a:t>SEBI Interim Order  |  June 3, 2026  |  A VedasVision Compliance 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WHO IS RAJESH EXPORTS?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The company that claimed to be India's largest gold exporter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0292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325880"/>
            <a:ext cx="612648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🏢  Founded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380744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1995  |  Bengaluru, Karnataka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01368"/>
            <a:ext cx="50292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0" y="1801368"/>
            <a:ext cx="612648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56231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📈  Listed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856231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BSE &amp; 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76856"/>
            <a:ext cx="50292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2276856"/>
            <a:ext cx="612648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317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💰  Peak Market Cap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331720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~₹20,000 Crore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52344"/>
            <a:ext cx="50292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0" y="2752344"/>
            <a:ext cx="612648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80720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🌍  Key 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807208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Valcambi SA, Switzerland (world's largest gold refinery)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27832"/>
            <a:ext cx="50292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0" y="3227832"/>
            <a:ext cx="612648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28269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👤  Promoter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3282696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Rajesh Mehta  —  Chairman &amp; MD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03320"/>
            <a:ext cx="50292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0" y="3703320"/>
            <a:ext cx="612648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75818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🏦  Key Investor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758184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LIC of India  —  10.79% stake (public money)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178808"/>
            <a:ext cx="50292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0" y="4178808"/>
            <a:ext cx="612648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23367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📊  Reported Revenue FY25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23367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₹4.23 LAKH CRORE (consolidated)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654296"/>
            <a:ext cx="50292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0" y="4654296"/>
            <a:ext cx="612648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709159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✅  Actual Verifiable Revenue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4709159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~₹423 crore  —  0.1% of claimed figure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C00"/>
                </a:solidFill>
              </a:rPr>
              <a:t>⚠️  Stock fell 80% over 3 years. Post SEBI order it hit lower circuit at ₹103.92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HOW THE SCAM UNRAVELED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One complaint → 2 years → ₹15.15 lakh crore fraud exposed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21440" cy="10241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691640" cy="10241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1A"/>
                </a:solidFill>
              </a:rPr>
              <a:t>MARCH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307592"/>
            <a:ext cx="94183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 shareholder files a complaint with SEBI.
Reason: Company's trade receivables (money owed TO the company) were
pending for 2+ years — a major red flag in any business.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50008"/>
            <a:ext cx="11521440" cy="10241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350008"/>
            <a:ext cx="1691640" cy="10241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624328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1A"/>
                </a:solidFill>
              </a:rPr>
              <a:t>OCT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423160"/>
            <a:ext cx="94183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SEBI launches formal investigation.
Forensic auditor BDO India is appointed to examine books.
Company is asked to submit all financial records, ERP data, journal dumps.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465576"/>
            <a:ext cx="11521440" cy="10241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465576"/>
            <a:ext cx="1691640" cy="1024128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739896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1A"/>
                </a:solidFill>
              </a:rPr>
              <a:t>ONGOING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538728"/>
            <a:ext cx="94183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Company refuses full cooperation:
• Does not give ERP access
• Statutory auditors don't submit working papers
• Cites Swiss data protection laws to avoid sharing Valcambi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581144"/>
            <a:ext cx="11521440" cy="10241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581144"/>
            <a:ext cx="1691640" cy="10241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855464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1A"/>
                </a:solidFill>
              </a:rPr>
              <a:t>JUNE 3,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654296"/>
            <a:ext cx="94183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SEBI issues landmark INTERIM ORDER:
• Bars Rajesh Mehta from securities markets
• Orders fresh forensic audit
• Publishes 99% revenue misrepresentation findings
• Estimates ₹12,726 crore shareholder wealth destruction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THE SHELL COMPANY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How 4 layers of subsidiaries hid the fraud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0" y="1234440"/>
            <a:ext cx="3200400" cy="640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1A"/>
                </a:solidFill>
              </a:rPr>
              <a:t>REL — Rajesh Exports 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727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LISTED IN INDIA  |  NSE / BSE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286000"/>
            <a:ext cx="3200400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1A"/>
                </a:solidFill>
              </a:rPr>
              <a:t>REL Singapore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243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100% Subsidiary  |  Singapore  |  NO 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3337560"/>
            <a:ext cx="3200400" cy="64008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3383279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GGR — Global Gold Refineries 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675887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95% Held by REL Singapore  |  Switzerland  |  NO Operations ⚠️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337560"/>
            <a:ext cx="32004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383279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BAB AL Rayan Jewellery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675887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100% REL Singapore  |  CEASED Operations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389120"/>
            <a:ext cx="3200400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4348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0D1A"/>
                </a:solidFill>
              </a:rPr>
              <a:t>Valcambi 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72744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Wholly Owned by GGR  |  REAL Refinery  |  Switzerland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874519"/>
            <a:ext cx="36576" cy="4297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2944368"/>
            <a:ext cx="36576" cy="4114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212080"/>
            <a:ext cx="11430000" cy="137160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54864" cy="137160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3B3B"/>
                </a:solidFill>
              </a:rPr>
              <a:t>🔑  THE KEY FRAUD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59612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GGR (the middle holding company) was NEVER independently audited.
REL booked ₹15 lakh crore revenue AT THE GGR LEVEL — but Valcambi (the actual working refinery) reported
only ₹423–543 crore in the SAME years. The gap = the fraud.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THE REVENUE ILLUSION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How ₹15.15 Lakh Crore of 'Revenue' was manufactured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486400" cy="5074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</a:rPr>
              <a:t>WHAT THEY REPORTED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E6A3"/>
                </a:solidFill>
              </a:rPr>
              <a:t>FY21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69164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₹2.02 Lakh Crore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E6A3"/>
                </a:solidFill>
              </a:rPr>
              <a:t>FY22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4884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₹3.31 Lakh Crore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E6A3"/>
                </a:solidFill>
              </a:rPr>
              <a:t>FY23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60604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₹3.28 Lakh Crore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6324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E6A3"/>
                </a:solidFill>
              </a:rPr>
              <a:t>FY24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06324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₹2.38 Lakh Crore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E6A3"/>
                </a:solidFill>
              </a:rPr>
              <a:t>FY25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52044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₹4.23 Lakh Crore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77639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E6A3"/>
                </a:solidFill>
              </a:rPr>
              <a:t>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977639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3B3B"/>
                </a:solidFill>
              </a:rPr>
              <a:t>₹15.22 Lakh Crore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188720"/>
            <a:ext cx="5440680" cy="507492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23444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CC71"/>
                </a:solidFill>
              </a:rPr>
              <a:t>WHAT WAS ACTUALLY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69164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Valcambi SA (KPMG Audited)
Actual 5-Year Revenue: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9572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ECC71"/>
                </a:solidFill>
              </a:rPr>
              <a:t>~₹3,000 Crore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0175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3B3B"/>
                </a:solidFill>
              </a:rPr>
              <a:t>vs. ₹15.15 LAKH CRORE reported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520440"/>
            <a:ext cx="516636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WHY THE GAP?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005072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Valcambi only refines gold — their revenue
= their PROCESSING FEE only
REL booked the FULL MARKET VALUE of
all gold that passed through Valcambi
as their own revenue — as if they OWNED
the gold. They didn't.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THE AFFLUENCE SECURITIES SCAM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How company money funded the promoter's personal F&amp;O bets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21440" cy="1508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</a:rPr>
              <a:t>THE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0642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Rajesh Exports' books showed ₹11,487 crore of SALES and ₹11,488 crore of PURCHASES
with a broking firm called 'Affluence Shares and Stocks Pvt Ltd' between FY22–FY24.
When SEBI contacted Affluence — they said: 'We have NO client named Rajesh Exports.'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880360"/>
            <a:ext cx="2697480" cy="228600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92608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0D1A"/>
                </a:solidFill>
              </a:rPr>
              <a:t>STEP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310128"/>
            <a:ext cx="2697480" cy="1856231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3364992"/>
            <a:ext cx="24780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REL moves funds to Rajesh Mehta's
PERSONAL account — ₹339 crore+
without board approval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880360"/>
            <a:ext cx="2697480" cy="2286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92608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0D1A"/>
                </a:solidFill>
              </a:rPr>
              <a:t>STEP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310128"/>
            <a:ext cx="2697480" cy="1856231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3364992"/>
            <a:ext cx="24780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Mehta uses personal funds to place
high-risk DERIVATIVES TRADES
(F&amp;O — Futures &amp; Options)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880360"/>
            <a:ext cx="2697480" cy="2286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92608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0D1A"/>
                </a:solidFill>
              </a:rPr>
              <a:t>STEP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310128"/>
            <a:ext cx="2697480" cy="1856231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3364992"/>
            <a:ext cx="24780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The derivative trade amounts are
booked BACK into REL's books
as fake Sales + Purchases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880360"/>
            <a:ext cx="2697480" cy="228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92608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0D1A"/>
                </a:solidFill>
              </a:rPr>
              <a:t>STEP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3310128"/>
            <a:ext cx="2697480" cy="1856231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3364992"/>
            <a:ext cx="24780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Result: Revenue looks MASSIVE
Actual loss + fund diversion
completely hidden from investors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3492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C00"/>
                </a:solidFill>
              </a:rPr>
              <a:t>💸  Estimated shareholder wealth destroyed: ₹12,726 Crore  |  Stock lost 80% of value over 3 years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THE MISSING MINES &amp; MYSTERY MILLIONS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₹10,547 crore in 'assets' that nobody can find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57784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AF37"/>
                </a:solidFill>
              </a:rPr>
              <a:t>🪨  AFRICA GOLD MINES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19072"/>
            <a:ext cx="5303520" cy="603504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719072"/>
            <a:ext cx="54864" cy="603504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92224"/>
            <a:ext cx="4983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FY23: Company discloses ₹1,035 crore investment
in 'gold mines in Africa'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32304"/>
            <a:ext cx="5303520" cy="603504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432304"/>
            <a:ext cx="54864" cy="603504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05456"/>
            <a:ext cx="4983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FY25: Same 'investment' mysteriously grows
to ₹10,547 crore — 10× in 2 years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145536"/>
            <a:ext cx="5303520" cy="603504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145536"/>
            <a:ext cx="54864" cy="603504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18688"/>
            <a:ext cx="4983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SEBI asks for proof: ownership documents,
location, valuation report — NOTHING provided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858768"/>
            <a:ext cx="5303520" cy="603504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858768"/>
            <a:ext cx="54864" cy="603504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31920"/>
            <a:ext cx="4983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Company later says it 'cannot locate'
its own earlier response to the exchange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572000"/>
            <a:ext cx="5303520" cy="603504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572000"/>
            <a:ext cx="54864" cy="603504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645152"/>
            <a:ext cx="4983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SEBI conclusion: These assets may be
COMPLETELY FICTITIOUS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188720"/>
            <a:ext cx="557784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344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C00"/>
                </a:solidFill>
              </a:rPr>
              <a:t>⚡  ELEST EV COMPANY — FUND DIVERSION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719072"/>
            <a:ext cx="5303520" cy="74980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719072"/>
            <a:ext cx="54864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792224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Elest = lithium battery &amp; EV company
(Related to the Rajesh group)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560320"/>
            <a:ext cx="5303520" cy="74980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2560320"/>
            <a:ext cx="54864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633472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₹565.88 crore transferred FROM Rajesh
Exports TO Elest (FY21–FY26)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401568"/>
            <a:ext cx="5303520" cy="74980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401568"/>
            <a:ext cx="54864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474720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Only ₹350.03 crore returned back
→ NET OUTFLOW: ₹215.85 crore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242816"/>
            <a:ext cx="5303520" cy="74980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242816"/>
            <a:ext cx="54864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315968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NEVER disclosed as related-party
transaction to investors or SEBI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084064"/>
            <a:ext cx="5303520" cy="74980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5084064"/>
            <a:ext cx="54864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5157216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Jan 1, 2025: REL's stake in ACC Energy
Storage dropped from 100% → 51%
Same day Elest acquired 48.95%
₹147 crore flowed — partly reversed same 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925312"/>
            <a:ext cx="5303520" cy="74980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5925312"/>
            <a:ext cx="54864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998464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Company's own MD &amp; CFO said they
were UNAWARE of these transactions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10 RED FLAGS THAT WERE ALWAYS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Every investor could have spotted these — before SEBI did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167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52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99% REVENUE FROM OVERSEAS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Nearly all revenue from Swiss/Singapore subs — no Indian visibility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07008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07008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3167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252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RECEIVABLES PILING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481328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Trade receivables unpaid for 2+ years — classic sign of fake sales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19656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1819656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92938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186537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GGR NEVER AUDITED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09397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The entity booking ₹15L crore revenue had ZERO independent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819656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819656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92938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186537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AUDITORS BLOCKED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093976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No ERP data, no journal dump, no subsidiary records — stonewalling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432304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432304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5420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24780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ONE CUSTOMER = 99% SALES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270662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All revenue concentration in entities controlled by promoter group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432304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2432304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25420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4780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ASSETS 10× WITHOUT REASON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706624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Africa mines went from ₹1,035 Cr → ₹10,547 Cr in 2 yrs — no docs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044952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044952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1546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30906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FUND FLOWS WITHOUT APPROVAL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31927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₹339+ Cr to promoter personal account — no board / audit approval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044952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3044952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31546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30906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STOCK FELL 80% IN 3 YEARS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331927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Market sensed trouble — insiders knew before retail investors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657600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3657600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7673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3703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MD/CFO UNAWARE OF OWN DEALS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393192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Management ignorant of own entity's transactions — governance failure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657600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72200" y="3657600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37673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3703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RELATED PARTY NOT DISCLOSED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393192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Elest transactions hidden — classic earnings management technique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LIC: THE BIGGEST QUESTION 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India's largest insurer held 10.79% — with YOUR premiums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029200" cy="4937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</a:rPr>
              <a:t>LIC's 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03B3B"/>
                </a:solidFill>
              </a:rPr>
              <a:t>10.79%
Stake in Rajesh Exports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724912"/>
            <a:ext cx="4800600" cy="603504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24912"/>
            <a:ext cx="54864" cy="60350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798064"/>
            <a:ext cx="4553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LIC invests public premium money —
EVERY Indian's insurance savings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419856"/>
            <a:ext cx="4800600" cy="603504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419856"/>
            <a:ext cx="54864" cy="60350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93008"/>
            <a:ext cx="4553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At peak, LIC's stake was worth
₹2,000+ crore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114800"/>
            <a:ext cx="4800600" cy="603504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4114800"/>
            <a:ext cx="54864" cy="60350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187952"/>
            <a:ext cx="4553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Stock fell 80% → LIC's investment
declined massively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809744"/>
            <a:ext cx="4800600" cy="603504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809744"/>
            <a:ext cx="54864" cy="60350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882896"/>
            <a:ext cx="4553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LIC performs 'due diligence' before
every large investment — it was missed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504688"/>
            <a:ext cx="4800600" cy="603504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5504688"/>
            <a:ext cx="54864" cy="60350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577840"/>
            <a:ext cx="4553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SEBI order raises governance questions
for ALL institutional investors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1234440"/>
            <a:ext cx="6126480" cy="4937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129844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WHAT PROPER DUE DILIGENCE SHOULD INCLUDE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1783080"/>
            <a:ext cx="5897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Verify revenue AT SUBSIDIARY LEVEL, not just consolidated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258568"/>
            <a:ext cx="5897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Demand independent audit of all material overseas entities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2734056"/>
            <a:ext cx="5897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Cross-check trade receivables aging — &gt;90 days is a red flag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209544"/>
            <a:ext cx="5897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Confirm 3rd-party transactions with COUNTERPARTIES directly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685031"/>
            <a:ext cx="5897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Validate all disclosed assets with supporting ownership docs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4160519"/>
            <a:ext cx="5897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Check related-party disclosures against actual fund flows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636007"/>
            <a:ext cx="5897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Scrutinize if revenue concentration &gt;50% in one entity/region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5111495"/>
            <a:ext cx="5897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Monitor promoter's personal financial activity vs company funds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COMPLIANCE LESSONS FOR UAE GOLD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What this scam means for gold traders, refiners &amp; dealers in the UAE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577840" cy="15727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09728" cy="15727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REVENUE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Refiners must ONLY book processing/refining fees as revenue — NOT the full market
value of client gold. Using gross gold value as revenue = misrepresentation.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577840" cy="15727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109728" cy="15727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258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SUBSIDIARY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Every overseas entity in your group must be independently audited.
Consolidated numbers without subsidiary-level verification = a hiding place for fraud.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26080"/>
            <a:ext cx="5577840" cy="15727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926080"/>
            <a:ext cx="109728" cy="1572768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175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3B3B"/>
                </a:solidFill>
              </a:rPr>
              <a:t>RELATED PARTY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8328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In UAE: CBUAE, DMCC &amp; DIFC all require full related-party disclosure.
Any fund flow to connected entities must be board-approved and disclosed.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5577840" cy="15727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109728" cy="15727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0175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TRADE RECEIVABLES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8328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Outstanding receivables &gt;90 days require escalation to compliance/board.
This is the exact trigger that caught the Rajesh Exports fraud.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617720"/>
            <a:ext cx="5577840" cy="15727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617720"/>
            <a:ext cx="109728" cy="157276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</a:rPr>
              <a:t>COUNTERPARTY VERIFICATION (AML/KYC)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Always independently verify that your counterparty confirms the transaction.
Fake transactions like the Affluence deal would fail a basic FATF KYC check.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617720"/>
            <a:ext cx="5577840" cy="15727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617720"/>
            <a:ext cx="109728" cy="15727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09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</a:rPr>
              <a:t>ASSET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0749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Claims of gold mining assets, inventory, or collateral MUST be supported
by ownership docs, valuations, and third-party confirmation — no exceptions.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THE NUMBERS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Everything you need to remember — in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834640" cy="54864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03B3B"/>
                </a:solidFill>
              </a:rPr>
              <a:t>₹15.15 Lakh Crore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3911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Revenue allegedly
misrepresented
(FY21–FY25)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23444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18688" y="1234440"/>
            <a:ext cx="28346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3716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99%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03911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Of consolidated
revenue that could
not be verified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23444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234440"/>
            <a:ext cx="2834640" cy="54864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3716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03B3B"/>
                </a:solidFill>
              </a:rPr>
              <a:t>₹12,726 Crore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03911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Shareholder wealth
destroyed by the
alleged fraud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123444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7424" y="1234440"/>
            <a:ext cx="28346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4" y="13716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₹339 Crore+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203911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Diverted to promoter's
personal account for
derivative trading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4612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246120"/>
            <a:ext cx="28346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3832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F37"/>
                </a:solidFill>
              </a:rPr>
              <a:t>₹10,547 Crore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5079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In 'Africa gold mines'
— zero documentation
provided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24612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18688" y="3246120"/>
            <a:ext cx="2834640" cy="54864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3832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03B3B"/>
                </a:solidFill>
              </a:rPr>
              <a:t>₹11,487 Crore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405079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Fake sales booked
with Affluence Shares
(they denied all)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324612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6" y="3246120"/>
            <a:ext cx="28346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33832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₹215.85 Crore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405079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Net outflow to
Elest EV (related
party, undisclosed)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07424" y="324612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07424" y="3246120"/>
            <a:ext cx="283464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98864" y="33832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F37"/>
                </a:solidFill>
              </a:rPr>
              <a:t>10.79%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4" y="405079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LIC's stake —
public money at risk
in this company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11430000" cy="4937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73152" cy="4937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841247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The Rajesh Exports case is India's largest alleged revenue misrepresentation — ₹15.15 lakh crore over 5 years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30000" cy="4937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73152" cy="4937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41732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The fraud was hidden through a 4-layer offshore subsidiary structure — with the key entity (GGR) never independently audited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01952"/>
            <a:ext cx="11430000" cy="4937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901952"/>
            <a:ext cx="73152" cy="4937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99339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Fake transactions with Affluence Securities allowed the promoter to funnel company funds into personal derivative bets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78024"/>
            <a:ext cx="11430000" cy="4937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478024"/>
            <a:ext cx="73152" cy="4937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5694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Basic due diligence — checking receivable aging, verifying counterparties, and demanding subsidiary audits — could have exposed this earlier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54096"/>
            <a:ext cx="11430000" cy="4937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054096"/>
            <a:ext cx="73152" cy="4937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4553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For UAE gold industry: gross gold value CANNOT be booked as refiner revenue — this is a core compliance principle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30168"/>
            <a:ext cx="11430000" cy="4937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630168"/>
            <a:ext cx="73152" cy="4937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721607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LIC's 10.79% stake shows even institutional investors can miss these red flags — compliance cannot rely on others to catch fraud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06240"/>
            <a:ext cx="11430000" cy="4937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206240"/>
            <a:ext cx="73152" cy="4937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297679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SEBI's interim order marks a new era of scrutiny for gold companies with opaque overseas 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742432"/>
            <a:ext cx="11430000" cy="841248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742432"/>
            <a:ext cx="114300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833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E6A3"/>
                </a:solidFill>
              </a:rPr>
              <a:t>🔔  Follow VedasVision for weekly compliance &amp; gold industry insights  |  Share this with your team — knowledge protects your business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