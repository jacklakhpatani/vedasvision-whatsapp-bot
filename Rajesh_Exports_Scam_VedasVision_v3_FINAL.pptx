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3840480"/>
          </a:xfrm>
          <a:prstGeom prst="rect">
            <a:avLst/>
          </a:prstGeom>
          <a:solidFill>
            <a:srgbClr val="11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5E6A3"/>
                </a:solidFill>
              </a:rPr>
              <a:t>INDIA'S BIGGEST MARKET SCAM — EXPOSED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" y="1728216"/>
            <a:ext cx="2395728" cy="17373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2286000" cy="1371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ajesh_export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2286000" cy="1371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02336" y="3172968"/>
            <a:ext cx="23957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E6A3"/>
                </a:solidFill>
              </a:rPr>
              <a:t>RAJESH EXPORTS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737360"/>
            <a:ext cx="5943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D4AF37"/>
                </a:solidFill>
              </a:rPr>
              <a:t>FRAUD
EXPOSED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63456" y="1728216"/>
            <a:ext cx="2395728" cy="17373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18320" y="1783080"/>
            <a:ext cx="2286000" cy="1371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valcambi_logo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1783080"/>
            <a:ext cx="2286000" cy="1371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363456" y="3172968"/>
            <a:ext cx="23957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E6A3"/>
                </a:solidFill>
              </a:rPr>
              <a:t>VALCAMBI 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70332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03B3B"/>
                </a:solidFill>
              </a:rPr>
              <a:t>₹15.15 LAKH CRORE REVENUE SCAM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34340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CCCCCC"/>
                </a:solidFill>
              </a:rPr>
              <a:t>How India's Top Gold Exporter Allegedly Fabricated 99% of Its Revenue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2636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E6A3"/>
                </a:solidFill>
              </a:rPr>
              <a:t>SEBI Interim Order  |  June 3, 2026  |  A VedasVision Compliance Insight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D4AF37"/>
                </a:solidFill>
              </a:rPr>
              <a:t>WHO IS RAJESH EXPORTS?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The company that claimed to be India's largest gold exporter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0896" y="1179576"/>
            <a:ext cx="3035808" cy="21945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292608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ajesh_mehta_lar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292608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0896" y="3081528"/>
            <a:ext cx="30358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E6A3"/>
                </a:solidFill>
              </a:rPr>
              <a:t>RAJESH MEHTA — Chairman &amp; MD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" y="3282696"/>
            <a:ext cx="3035808" cy="1828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337560"/>
            <a:ext cx="2926080" cy="1463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ajesh_export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337560"/>
            <a:ext cx="2926080" cy="14630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10896" y="4818888"/>
            <a:ext cx="30358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E6A3"/>
                </a:solidFill>
              </a:rPr>
              <a:t>Rajesh Exports Limited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1261872"/>
            <a:ext cx="4389120" cy="40233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261872"/>
            <a:ext cx="3749039" cy="40233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132588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</a:rPr>
              <a:t>🏢  Founded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32588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1995  |  Bengaluru, Karnataka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1755648"/>
            <a:ext cx="4389120" cy="40233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755648"/>
            <a:ext cx="3749039" cy="40233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3320" y="181965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</a:rPr>
              <a:t>📈  Listed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81965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BSE 531500 &amp; NSE RAJESHEXPO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66160" y="2249424"/>
            <a:ext cx="4389120" cy="40233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2440" y="2249424"/>
            <a:ext cx="3749039" cy="40233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03320" y="2313432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</a:rPr>
              <a:t>🌍  Key 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31343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Valcambi SA — World's largest gold refinery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66160" y="2743200"/>
            <a:ext cx="4389120" cy="40233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2743200"/>
            <a:ext cx="3749039" cy="40233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03320" y="280720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</a:rPr>
              <a:t>📊  Reported Rev FY25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80720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₹4.23 LAKH CRORE (consolidated)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66160" y="3236976"/>
            <a:ext cx="4389120" cy="40233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92440" y="3236976"/>
            <a:ext cx="3749039" cy="40233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03320" y="3300984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</a:rPr>
              <a:t>✅  Actual Verified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30098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~₹423 Cr — only 0.1% of claimed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66160" y="3730752"/>
            <a:ext cx="4389120" cy="40233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92440" y="3730752"/>
            <a:ext cx="3749039" cy="40233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03320" y="37947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</a:rPr>
              <a:t>🏦  LIC Stake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79476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10.79% — YOUR insurance premium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66160" y="4224528"/>
            <a:ext cx="4389120" cy="40233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92440" y="4224528"/>
            <a:ext cx="3749039" cy="40233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03320" y="428853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</a:rPr>
              <a:t>📉  Stock fall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28853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80%+ in 3 years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66160" y="4718304"/>
            <a:ext cx="4389120" cy="40233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92440" y="4718304"/>
            <a:ext cx="3749039" cy="40233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03320" y="4782312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</a:rPr>
              <a:t>⚡  Post-order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478231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Lower circuit ₹78 on Jun 3,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2910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8C00"/>
                </a:solidFill>
              </a:rPr>
              <a:t>⚠️  Harshad Mehta = ₹4,000 Cr  |  Rajesh Exports = ₹15,15,000 Cr  → 3,787× BIGGER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D4AF37"/>
                </a:solidFill>
              </a:rPr>
              <a:t>₹15 LAKH CRORE — WHAT DOES THIS NUMBER MEAN?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Put the alleged fraud in perspective — it's bigger than India's entire defence + education + health budget combined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tex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0"/>
            <a:ext cx="1152144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D4AF37"/>
                </a:solidFill>
              </a:rPr>
              <a:t>HOW THE SCAM UNRAVELED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One shareholder complaint → 2-year investigation → India's biggest alleged fraud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77856" y="18288"/>
            <a:ext cx="1572768" cy="10241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2720" y="73152"/>
            <a:ext cx="1463040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ebi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73152"/>
            <a:ext cx="1463040" cy="914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234440"/>
            <a:ext cx="1152144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234440"/>
            <a:ext cx="1828800" cy="10972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554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0D1A"/>
                </a:solidFill>
              </a:rPr>
              <a:t>MARCH 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1344168"/>
            <a:ext cx="93268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Shareholder complaint to SEBI: Trade receivables unpaid for 2+ years.
(If sales are real — why is the payment not coming?)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423160"/>
            <a:ext cx="1152144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423160"/>
            <a:ext cx="1828800" cy="10972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0D1A"/>
                </a:solidFill>
              </a:rPr>
              <a:t>OCT 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2532888"/>
            <a:ext cx="93268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SEBI launches formal investigation. Forensic auditor BDO India appointed.
Company asked for ERP access, books, journal entries, subsidiary records.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611880"/>
            <a:ext cx="1152144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611880"/>
            <a:ext cx="1828800" cy="109728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931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0D1A"/>
                </a:solidFill>
              </a:rPr>
              <a:t>ONGOING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3721608"/>
            <a:ext cx="93268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Company refuses cooperation: No ERP access. Auditors don't get working papers.
Cites Swiss data protection laws to block Valcambi records.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800600"/>
            <a:ext cx="1152144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4800600"/>
            <a:ext cx="1828800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5120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0D1A"/>
                </a:solidFill>
              </a:rPr>
              <a:t>JUN 3,2026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4910328"/>
            <a:ext cx="93268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SEBI Interim Order: Rajesh Mehta BANNED from markets.
99% revenue misrepresentation confirmed. ₹12,726 Cr shareholder wealth destroyed.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D4AF37"/>
                </a:solidFill>
              </a:rPr>
              <a:t>THE SHELL COMPANY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4 layers — the middle layer NEVER audited, yet booked ₹15 lakh crore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80560" y="1234440"/>
            <a:ext cx="3200400" cy="65836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28930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0D1A"/>
                </a:solidFill>
              </a:rPr>
              <a:t>REL — Rajesh Exports Limited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18488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LISTED IN INDIA  |  NSE/BSE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2304288"/>
            <a:ext cx="3200400" cy="65836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35915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0D1A"/>
                </a:solidFill>
              </a:rPr>
              <a:t>REL Singapore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88336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100% Subsidiary  |  NO Operations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3383280"/>
            <a:ext cx="3200400" cy="658368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343814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GGR — Global Gold Refineries 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767328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NEVER AUDITED  ⚠️  Fraud booked here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383280"/>
            <a:ext cx="3200400" cy="65836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43814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F37"/>
                </a:solidFill>
              </a:rPr>
              <a:t>BAB AL Rayan Jewellery LLC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767328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CEASED Operations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4480560"/>
            <a:ext cx="3200400" cy="6583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53542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0D1A"/>
                </a:solidFill>
              </a:rPr>
              <a:t>Valcambi 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864608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REAL Refinery — Balerna, Switzerland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62472" y="1883664"/>
            <a:ext cx="36576" cy="42976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62472" y="2962656"/>
            <a:ext cx="36576" cy="42062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rajesh_export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298448"/>
            <a:ext cx="1371600" cy="1108253"/>
          </a:xfrm>
          <a:prstGeom prst="rect">
            <a:avLst/>
          </a:prstGeom>
        </p:spPr>
      </p:pic>
      <p:pic>
        <p:nvPicPr>
          <p:cNvPr id="24" name="Picture 23" descr="valcambi_logo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4462272"/>
            <a:ext cx="1371600" cy="13716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320040" y="5303520"/>
            <a:ext cx="11521440" cy="1389888"/>
          </a:xfrm>
          <a:prstGeom prst="rect">
            <a:avLst/>
          </a:prstGeom>
          <a:solidFill>
            <a:srgbClr val="1E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5303520"/>
            <a:ext cx="64008" cy="1389888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7" y="5349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3B3B"/>
                </a:solidFill>
              </a:rPr>
              <a:t>THE CORE FRAUD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7" y="568756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GGR — between REL Singapore and Valcambi — was NEVER independently audited. Yet REL booked ₹15 lakh crore revenue at this level.
Valcambi (KPMG audited) reported ₹423 Cr. The gap between them = ₹15 lakh crore of alleged fake revenue.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D4AF37"/>
                </a:solidFill>
              </a:rPr>
              <a:t>THE REVENUE ILLUSION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How ₹15.15 Lakh Crore was manufactured — the dry-cleaner trick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592056" y="1133856"/>
            <a:ext cx="2304288" cy="2560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46920" y="1188720"/>
            <a:ext cx="2194560" cy="2194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alcambi_im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1188720"/>
            <a:ext cx="2194560" cy="2194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92056" y="3401568"/>
            <a:ext cx="23042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E6A3"/>
                </a:solidFill>
              </a:rPr>
              <a:t>Valcambi Gold Bar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88720"/>
            <a:ext cx="5029200" cy="5074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25272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4AF37"/>
                </a:solidFill>
              </a:rPr>
              <a:t>WHAT REL REPORTED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09928"/>
            <a:ext cx="1828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E6A3"/>
                </a:solidFill>
              </a:rPr>
              <a:t>FY21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1709928"/>
            <a:ext cx="28346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</a:rPr>
              <a:t>₹2.02 Lakh Crore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185416"/>
            <a:ext cx="1828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E6A3"/>
                </a:solidFill>
              </a:rPr>
              <a:t>FY22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185416"/>
            <a:ext cx="28346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</a:rPr>
              <a:t>₹3.31 Lakh Crore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660904"/>
            <a:ext cx="1828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E6A3"/>
                </a:solidFill>
              </a:rPr>
              <a:t>FY23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660904"/>
            <a:ext cx="28346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</a:rPr>
              <a:t>₹3.28 Lakh Crore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136392"/>
            <a:ext cx="1828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E6A3"/>
                </a:solidFill>
              </a:rPr>
              <a:t>FY24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136392"/>
            <a:ext cx="28346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</a:rPr>
              <a:t>₹2.38 Lakh Crore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11880"/>
            <a:ext cx="1828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E6A3"/>
                </a:solidFill>
              </a:rPr>
              <a:t>FY25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3611880"/>
            <a:ext cx="28346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</a:rPr>
              <a:t>₹4.23 Lakh Crore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087368"/>
            <a:ext cx="1828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E6A3"/>
                </a:solidFill>
              </a:rPr>
              <a:t>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087368"/>
            <a:ext cx="28346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03B3B"/>
                </a:solidFill>
              </a:rPr>
              <a:t>₹15.22 Lakh Crore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23560" y="1188720"/>
            <a:ext cx="3794760" cy="5074920"/>
          </a:xfrm>
          <a:prstGeom prst="rect">
            <a:avLst/>
          </a:prstGeom>
          <a:solidFill>
            <a:srgbClr val="1E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0" y="1252728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CC71"/>
                </a:solidFill>
              </a:rPr>
              <a:t>ACTUALLY VERIFIED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1709928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Valcambi SA (KPMG)
5-Year Revenue: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2432304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ECC71"/>
                </a:solidFill>
              </a:rPr>
              <a:t>~₹3,000 Cr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306324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3B3B"/>
                </a:solidFill>
              </a:rPr>
              <a:t>vs ₹15.15 LAKH CRORE reported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720" y="3547872"/>
            <a:ext cx="352044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0" y="363931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</a:rPr>
              <a:t>WHY THE GAP?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4005072"/>
            <a:ext cx="35204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Valcambi refines gold → earns
a PROCESSING FEE only.
REL booked the FULL MARKET
VALUE of ALL gold processed
as their 'revenue'.
Like a drycleaner counting
₹10 lakh suit value as sales
instead of ₹500 fee.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D4AF37"/>
                </a:solidFill>
              </a:rPr>
              <a:t>PAISA KAHAN GAYA? — THE COMPLETE MONEY TRAIL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Follow every rupee from company accounts to personal F&amp;O bets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1188720"/>
            <a:ext cx="3017520" cy="713232"/>
          </a:xfrm>
          <a:prstGeom prst="rect">
            <a:avLst/>
          </a:prstGeom>
          <a:solidFill>
            <a:srgbClr val="1A1A2E"/>
          </a:solidFill>
          <a:ln w="13716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261872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RAJESH EXPORTS LTD (REL)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5152" y="1600200"/>
            <a:ext cx="28712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Listed company | ₹15L Cr revenue claimed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067044" y="1901952"/>
            <a:ext cx="27432" cy="3383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89320" y="2130552"/>
            <a:ext cx="182880" cy="128016"/>
          </a:xfrm>
          <a:prstGeom prst="roundRect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1600" y="2240280"/>
            <a:ext cx="3017520" cy="713232"/>
          </a:xfrm>
          <a:prstGeom prst="rect">
            <a:avLst/>
          </a:prstGeom>
          <a:solidFill>
            <a:srgbClr val="1E0A0A"/>
          </a:solidFill>
          <a:ln w="13716">
            <a:solidFill>
              <a:srgbClr val="E0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2313432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RAJESH MEHTA
PERSONAL ACCOUNT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2651760"/>
            <a:ext cx="28712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₹339 Cr+ moved — NO board approval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2240280"/>
            <a:ext cx="3017520" cy="713232"/>
          </a:xfrm>
          <a:prstGeom prst="rect">
            <a:avLst/>
          </a:prstGeom>
          <a:solidFill>
            <a:srgbClr val="1A1204"/>
          </a:solidFill>
          <a:ln w="13716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2313432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GGR (Switzerland)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5552" y="2651760"/>
            <a:ext cx="28712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₹15L Cr fake revenue
booked here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2583179"/>
            <a:ext cx="155448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89520" y="2583179"/>
            <a:ext cx="182879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66644" y="2953512"/>
            <a:ext cx="27432" cy="42976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88920" y="3273552"/>
            <a:ext cx="182880" cy="128016"/>
          </a:xfrm>
          <a:prstGeom prst="roundRect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67444" y="2953512"/>
            <a:ext cx="27432" cy="42976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9720" y="3273552"/>
            <a:ext cx="182880" cy="128016"/>
          </a:xfrm>
          <a:prstGeom prst="roundRect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383280"/>
            <a:ext cx="3566160" cy="777240"/>
          </a:xfrm>
          <a:prstGeom prst="rect">
            <a:avLst/>
          </a:prstGeom>
          <a:solidFill>
            <a:srgbClr val="1E0A0A"/>
          </a:solidFill>
          <a:ln w="13716">
            <a:solidFill>
              <a:srgbClr val="E0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456432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DERIVATIVES TRADING (F&amp;O)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3794760"/>
            <a:ext cx="3419856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High-risk personal bets
with company money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383280"/>
            <a:ext cx="3017520" cy="777240"/>
          </a:xfrm>
          <a:prstGeom prst="rect">
            <a:avLst/>
          </a:prstGeom>
          <a:solidFill>
            <a:srgbClr val="0A1A0A"/>
          </a:solidFill>
          <a:ln w="13716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3456432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ELEST EV COMPANY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5152" y="3794760"/>
            <a:ext cx="2871215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₹215 Cr net outflow
undisclosed related party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3383280"/>
            <a:ext cx="3566160" cy="777240"/>
          </a:xfrm>
          <a:prstGeom prst="rect">
            <a:avLst/>
          </a:prstGeom>
          <a:solidFill>
            <a:srgbClr val="1E0A0A"/>
          </a:solidFill>
          <a:ln w="13716">
            <a:solidFill>
              <a:srgbClr val="E0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0" y="3456432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AFFLUENCE SECURITIES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45552" y="3794760"/>
            <a:ext cx="3419856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₹11,487 Cr fake sales+purchases
'We have NO such client'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35124" y="4160520"/>
            <a:ext cx="27432" cy="502919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057400" y="4553712"/>
            <a:ext cx="182880" cy="128016"/>
          </a:xfrm>
          <a:prstGeom prst="roundRect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67044" y="4160520"/>
            <a:ext cx="27432" cy="502919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989320" y="4553712"/>
            <a:ext cx="182880" cy="128016"/>
          </a:xfrm>
          <a:prstGeom prst="roundRect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41763" y="4160520"/>
            <a:ext cx="27432" cy="502919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464040" y="4553712"/>
            <a:ext cx="182880" cy="128016"/>
          </a:xfrm>
          <a:prstGeom prst="roundRect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4663440"/>
            <a:ext cx="3566160" cy="749808"/>
          </a:xfrm>
          <a:prstGeom prst="rect">
            <a:avLst/>
          </a:prstGeom>
          <a:solidFill>
            <a:srgbClr val="1A1A2E"/>
          </a:solidFill>
          <a:ln w="13716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736592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PERSONAL LOSS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" y="5074920"/>
            <a:ext cx="3419856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Booked back into
company accounts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4663440"/>
            <a:ext cx="3017520" cy="749808"/>
          </a:xfrm>
          <a:prstGeom prst="rect">
            <a:avLst/>
          </a:prstGeom>
          <a:solidFill>
            <a:srgbClr val="1A1A2E"/>
          </a:solidFill>
          <a:ln w="13716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63440" y="4736592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CAPITAL GONE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45152" y="5074920"/>
            <a:ext cx="2871215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₹215 Cr never
fully returned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0" y="4663440"/>
            <a:ext cx="3566160" cy="749808"/>
          </a:xfrm>
          <a:prstGeom prst="rect">
            <a:avLst/>
          </a:prstGeom>
          <a:solidFill>
            <a:srgbClr val="1A1A2E"/>
          </a:solidFill>
          <a:ln w="13716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63840" y="4736592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FAKE REVENUE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45552" y="5074920"/>
            <a:ext cx="3419856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Company looks
bigger than reality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577840"/>
            <a:ext cx="11521440" cy="1005840"/>
          </a:xfrm>
          <a:prstGeom prst="rect">
            <a:avLst/>
          </a:prstGeom>
          <a:solidFill>
            <a:srgbClr val="1E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0040" y="5577840"/>
            <a:ext cx="11521440" cy="54864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566928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03B3B"/>
                </a:solidFill>
              </a:rPr>
              <a:t>NET RESULT: Investors lost ₹12,726 Cr of wealth | LIC lost thousands of crores | Stock crashed 85%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0350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All while company reported record revenues and management claimed everything was fine.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D4AF37"/>
                </a:solidFill>
              </a:rPr>
              <a:t>THE AFFLUENCE SECURITIES SCAM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How company money funded the promoter's personal F&amp;O bets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11521440" cy="1417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</a:rPr>
              <a:t>THE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REL books: ₹11,487 Cr SALES + ₹11,488 Cr PURCHASES with 'Affluence Shares &amp; Stocks Pvt Ltd' (FY22-FY24).
SEBI contacted Affluence. Reply: 'We have NO client named Rajesh Exports. These transactions NEVER happened.'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" y="2706624"/>
            <a:ext cx="2624328" cy="196596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2761488"/>
            <a:ext cx="2514600" cy="1600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ajesh_mehta_lar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61488"/>
            <a:ext cx="2514600" cy="1600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5176" y="4379975"/>
            <a:ext cx="26243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E6A3"/>
                </a:solidFill>
              </a:rPr>
              <a:t>RAJESH MEHTA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40" y="2761488"/>
            <a:ext cx="2103120" cy="160020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54680" y="280720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0D1A"/>
                </a:solidFill>
              </a:rPr>
              <a:t>STEP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63240" y="3172968"/>
            <a:ext cx="2103120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72968" y="3227832"/>
            <a:ext cx="1883664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REL funds to Mehta's
PERSONAL account
₹339 Cr+
No board approval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0" y="2761488"/>
            <a:ext cx="2103120" cy="1600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280720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0D1A"/>
                </a:solidFill>
              </a:rPr>
              <a:t>STEP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0" y="3172968"/>
            <a:ext cx="2103120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13248" y="3227832"/>
            <a:ext cx="1883664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Personal DERIVATIVES
TRADES (F&amp;O)
High-risk bets
with company funds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43800" y="2761488"/>
            <a:ext cx="2103120" cy="1600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280720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0D1A"/>
                </a:solidFill>
              </a:rPr>
              <a:t>STEP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43800" y="3172968"/>
            <a:ext cx="2103120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53527" y="3227832"/>
            <a:ext cx="1883664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Trade amounts booked
as fake Sales +
Purchases in REL
via 'Affluence'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80" y="2761488"/>
            <a:ext cx="2103120" cy="1600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19" y="280720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0D1A"/>
                </a:solidFill>
              </a:rPr>
              <a:t>STEP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84080" y="3172968"/>
            <a:ext cx="2103120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93807" y="3227832"/>
            <a:ext cx="1883664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Revenue inflated.
Fund diversion
hidden from all
investors/board.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457200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8C00"/>
                </a:solidFill>
              </a:rPr>
              <a:t>Shareholder wealth destroyed: ₹12,726 Crore  |  Stock: −80% in 3 years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047488"/>
            <a:ext cx="11521440" cy="1600200"/>
          </a:xfrm>
          <a:prstGeom prst="rect">
            <a:avLst/>
          </a:prstGeom>
          <a:solidFill>
            <a:srgbClr val="1E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5047488"/>
            <a:ext cx="64008" cy="160020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207" y="50932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3B3B"/>
                </a:solidFill>
              </a:rPr>
              <a:t>UAE COMPLIANCE LINK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7" y="5431536"/>
            <a:ext cx="11064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CBUAE &amp; FATF DNFBP: ANY fund transfer from company to director/promoter personal account MUST have board approval AND be disclosed as related-party transaction. Undisclosed fund flows = AML red flag = regulatory action (fines, licence suspension, criminal referral).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D4AF37"/>
                </a:solidFill>
              </a:rPr>
              <a:t>THE MISSING MINES &amp; MYSTERY MILLIONS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₹10,547 crore in 'assets' — zero documentation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5577840" cy="5029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AF37"/>
                </a:solidFill>
              </a:rPr>
              <a:t>AFRICA GOLD MINES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19072"/>
            <a:ext cx="5303520" cy="713232"/>
          </a:xfrm>
          <a:prstGeom prst="rect">
            <a:avLst/>
          </a:prstGeom>
          <a:solidFill>
            <a:srgbClr val="1E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719072"/>
            <a:ext cx="64008" cy="713232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10512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FY23: ₹1,035 Cr investment in 'gold mines in Africa'
(no mine name, no location given)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542032"/>
            <a:ext cx="5303520" cy="713232"/>
          </a:xfrm>
          <a:prstGeom prst="rect">
            <a:avLst/>
          </a:prstGeom>
          <a:solidFill>
            <a:srgbClr val="1E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542032"/>
            <a:ext cx="64008" cy="713232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633472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FY25: Same 'investment' became ₹10,547 Cr
— 10× jump in 2 years, zero explanation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364991"/>
            <a:ext cx="5303520" cy="713232"/>
          </a:xfrm>
          <a:prstGeom prst="rect">
            <a:avLst/>
          </a:prstGeom>
          <a:solidFill>
            <a:srgbClr val="1E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364991"/>
            <a:ext cx="64008" cy="713232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456432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SEBI demanded: Ownership docs, location,
valuation report — company provided NOTHING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187952"/>
            <a:ext cx="5303520" cy="713232"/>
          </a:xfrm>
          <a:prstGeom prst="rect">
            <a:avLst/>
          </a:prstGeom>
          <a:solidFill>
            <a:srgbClr val="1E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4187952"/>
            <a:ext cx="64008" cy="713232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279392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Company said it 'cannot locate its earlier
response' — their own words to SEBI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5010912"/>
            <a:ext cx="5303520" cy="713232"/>
          </a:xfrm>
          <a:prstGeom prst="rect">
            <a:avLst/>
          </a:prstGeom>
          <a:solidFill>
            <a:srgbClr val="1E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5010912"/>
            <a:ext cx="64008" cy="713232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102352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SEBI conclusion: These assets may be
COMPLETELY FICTITIOUS — fake asset inflation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188720"/>
            <a:ext cx="5577840" cy="5029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2344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8C00"/>
                </a:solidFill>
              </a:rPr>
              <a:t>ELEST EV COMPANY — SILENT DRAIN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719072"/>
            <a:ext cx="5303520" cy="658368"/>
          </a:xfrm>
          <a:prstGeom prst="rect">
            <a:avLst/>
          </a:prstGeom>
          <a:solidFill>
            <a:srgbClr val="1A12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1719072"/>
            <a:ext cx="64008" cy="65836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1792224"/>
            <a:ext cx="4983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Elest = lithium-ion battery &amp; EV startup
Directly related to the Rajesh group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468879"/>
            <a:ext cx="5303520" cy="658368"/>
          </a:xfrm>
          <a:prstGeom prst="rect">
            <a:avLst/>
          </a:prstGeom>
          <a:solidFill>
            <a:srgbClr val="1A12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2468879"/>
            <a:ext cx="64008" cy="65836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2542032"/>
            <a:ext cx="4983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₹565.88 Cr transferred FROM REL → Elest
over FY21–FY26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218687"/>
            <a:ext cx="5303520" cy="658368"/>
          </a:xfrm>
          <a:prstGeom prst="rect">
            <a:avLst/>
          </a:prstGeom>
          <a:solidFill>
            <a:srgbClr val="1A12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3218687"/>
            <a:ext cx="64008" cy="65836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3291839"/>
            <a:ext cx="4983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Only ₹350.03 Cr returned
→ NET OUTFLOW: ₹215.85 Cr — gone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968496"/>
            <a:ext cx="5303520" cy="658368"/>
          </a:xfrm>
          <a:prstGeom prst="rect">
            <a:avLst/>
          </a:prstGeom>
          <a:solidFill>
            <a:srgbClr val="1A12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3968496"/>
            <a:ext cx="64008" cy="65836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4041648"/>
            <a:ext cx="4983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NEVER disclosed as related-party
transaction to investors or SEBI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4718304"/>
            <a:ext cx="5303520" cy="658368"/>
          </a:xfrm>
          <a:prstGeom prst="rect">
            <a:avLst/>
          </a:prstGeom>
          <a:solidFill>
            <a:srgbClr val="1A12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0" y="4718304"/>
            <a:ext cx="64008" cy="65836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4791456"/>
            <a:ext cx="4983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Jan 1, 2025: REL stake in ACC Energy Storage
100% → 51%; Elest got 49% SAME DAY
₹147 Cr flowed — partly reversed same day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5468112"/>
            <a:ext cx="5303520" cy="658368"/>
          </a:xfrm>
          <a:prstGeom prst="rect">
            <a:avLst/>
          </a:prstGeom>
          <a:solidFill>
            <a:srgbClr val="1A12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0" y="5468112"/>
            <a:ext cx="64008" cy="65836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5541264"/>
            <a:ext cx="4983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Company's own MD &amp; CFO:
'WE WERE UNAWARE of these transactions'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D4AF37"/>
                </a:solidFill>
              </a:rPr>
              <a:t>THE MARKET KNEW — STOCK FELL 85% IN 3 YEARS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Investors who held Rajesh Exports since 2022 lost 85% of their money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ock_crash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70432"/>
            <a:ext cx="11521440" cy="53766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D4AF37"/>
                </a:solidFill>
              </a:rPr>
              <a:t>10 RED FLAGS THAT WERE ALWAYS 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Any careful investor could have spotted these years before SEBI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07008"/>
            <a:ext cx="557784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07008"/>
            <a:ext cx="457200" cy="54864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1673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252728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</a:rPr>
              <a:t>99% REVENUE OVERSEAS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481328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Nearly all from Swiss/Singapore subs — no Indian visibility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207008"/>
            <a:ext cx="557784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207008"/>
            <a:ext cx="457200" cy="54864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31673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252728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</a:rPr>
              <a:t>RECEIVABLES PILING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481328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Unpaid 2+ years — classic sign of fake/non-existent sales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819656"/>
            <a:ext cx="557784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1819656"/>
            <a:ext cx="457200" cy="54864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192938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1865376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</a:rPr>
              <a:t>GGR NEVER AUDITED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093976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₹15L Cr revenue booked — ZERO independent audit of that entity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1819656"/>
            <a:ext cx="557784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1819656"/>
            <a:ext cx="457200" cy="54864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192938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1865376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</a:rPr>
              <a:t>AUDITORS BLOCKED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2093976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No ERP, no journal dump, no subsidiary records provided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432304"/>
            <a:ext cx="557784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432304"/>
            <a:ext cx="457200" cy="54864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254203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2478024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</a:rPr>
              <a:t>ONE ENTITY = 99% SALES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2706624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All revenue in promoter-controlled entities — circular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2432304"/>
            <a:ext cx="557784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2432304"/>
            <a:ext cx="457200" cy="54864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254203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2478024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</a:rPr>
              <a:t>ASSETS 10× W/O PROOF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2706624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Africa mines ₹1,035 → ₹10,547 Cr — no ownership docs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044952"/>
            <a:ext cx="557784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3044952"/>
            <a:ext cx="457200" cy="54864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315468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309067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</a:rPr>
              <a:t>FUNDS W/O BOARD APPROVAL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3319272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₹339+ Cr to personal account — no sanction trail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72200" y="3044952"/>
            <a:ext cx="557784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72200" y="3044952"/>
            <a:ext cx="457200" cy="54864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72200" y="315468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309067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</a:rPr>
              <a:t>STOCK FELL 85% IN 3 YRS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20840" y="3319272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Market sensed trouble long before retail investors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657600"/>
            <a:ext cx="557784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0040" y="3657600"/>
            <a:ext cx="457200" cy="54864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376732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" y="3703320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</a:rPr>
              <a:t>MD/CFO UNAWARE OF DEALS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3931920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Management ignorant of own entity's large transactions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72200" y="3657600"/>
            <a:ext cx="557784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172200" y="3657600"/>
            <a:ext cx="457200" cy="54864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72200" y="376732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3703320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</a:rPr>
              <a:t>RPT NOT DISCLOSED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20840" y="3931920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Elest transactions completely hidden — earnings management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D4AF37"/>
                </a:solidFill>
              </a:rPr>
              <a:t>INDIA'S BIGGEST SCAMS — WHERE DOES RAJESH EXPORTS RANK?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Scale comparison — alleged amount only, SEBI interim order not final conviction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am_comparis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70432"/>
            <a:ext cx="11521440" cy="4297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5577840"/>
            <a:ext cx="2340864" cy="1115568"/>
          </a:xfrm>
          <a:prstGeom prst="rect">
            <a:avLst/>
          </a:prstGeom>
          <a:solidFill>
            <a:srgbClr val="1A1A2E"/>
          </a:solidFill>
          <a:ln w="13716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623560"/>
            <a:ext cx="21579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B59B6"/>
                </a:solidFill>
              </a:rPr>
              <a:t>HARSHAD MEHTA
1992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080760"/>
            <a:ext cx="21579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₹4,000 Cr
Banking securities fraud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06624" y="5577840"/>
            <a:ext cx="2340864" cy="1115568"/>
          </a:xfrm>
          <a:prstGeom prst="rect">
            <a:avLst/>
          </a:prstGeom>
          <a:solidFill>
            <a:srgbClr val="1A1A2E"/>
          </a:solidFill>
          <a:ln w="13716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98064" y="5623560"/>
            <a:ext cx="21579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8C00"/>
                </a:solidFill>
              </a:rPr>
              <a:t>SATYAM
2009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8064" y="6080760"/>
            <a:ext cx="21579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₹14,000 Cr
Accounts manipulation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38928" y="5577840"/>
            <a:ext cx="2340864" cy="1115568"/>
          </a:xfrm>
          <a:prstGeom prst="rect">
            <a:avLst/>
          </a:prstGeom>
          <a:solidFill>
            <a:srgbClr val="1A1A2E"/>
          </a:solidFill>
          <a:ln w="13716">
            <a:solidFill>
              <a:srgbClr val="E0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0368" y="5623560"/>
            <a:ext cx="21579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03B3B"/>
                </a:solidFill>
              </a:rPr>
              <a:t>NIRAV MODI
2018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6080760"/>
            <a:ext cx="21579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₹13,500 Cr
PNB letters of credit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71232" y="5577840"/>
            <a:ext cx="2340864" cy="1115568"/>
          </a:xfrm>
          <a:prstGeom prst="rect">
            <a:avLst/>
          </a:prstGeom>
          <a:solidFill>
            <a:srgbClr val="1A1A2E"/>
          </a:solidFill>
          <a:ln w="13716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62672" y="5623560"/>
            <a:ext cx="21579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498DB"/>
                </a:solidFill>
              </a:rPr>
              <a:t>YES BANK
2020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62672" y="6080760"/>
            <a:ext cx="21579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₹73,500 Cr
NPA masking fraud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03536" y="5577840"/>
            <a:ext cx="2340864" cy="1115568"/>
          </a:xfrm>
          <a:prstGeom prst="rect">
            <a:avLst/>
          </a:prstGeom>
          <a:solidFill>
            <a:srgbClr val="1A1A2E"/>
          </a:solidFill>
          <a:ln w="13716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94976" y="5623560"/>
            <a:ext cx="21579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4AF37"/>
                </a:solidFill>
              </a:rPr>
              <a:t>RAJESH EXPORTS
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4976" y="6080760"/>
            <a:ext cx="21579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₹15.15 LAKH Cr
Revenue misrepresentation *alleged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D4AF37"/>
                </a:solidFill>
              </a:rPr>
              <a:t>LIC: THE BIGGEST QUESTION 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India's largest insurer held 10.79% — funded by your insurance premiums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" y="1207007"/>
            <a:ext cx="4224528" cy="2286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261872"/>
            <a:ext cx="4114800" cy="1920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i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261872"/>
            <a:ext cx="4114800" cy="1920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92608" y="3200400"/>
            <a:ext cx="42245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E6A3"/>
                </a:solidFill>
              </a:rPr>
              <a:t>LIC — Life Insurance Corporation of India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3383280"/>
            <a:ext cx="4114800" cy="2788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342900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AF37"/>
                </a:solidFill>
              </a:rPr>
              <a:t>LIC's EXPOSURE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3794760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03B3B"/>
                </a:solidFill>
              </a:rPr>
              <a:t>10.79%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407408"/>
            <a:ext cx="3840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At peak: ₹2,000+ Cr
Post-crash: massive loss
All = public premiums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" y="5230368"/>
            <a:ext cx="4224528" cy="17830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" y="5285232"/>
            <a:ext cx="4114800" cy="1417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ebi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5285232"/>
            <a:ext cx="4114800" cy="1417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92608" y="6720840"/>
            <a:ext cx="42245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E6A3"/>
                </a:solidFill>
              </a:rPr>
              <a:t>SEBI — Issued Interim Order Jun 3, 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0600" y="1261872"/>
            <a:ext cx="7040880" cy="5440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1316736"/>
            <a:ext cx="6766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CC71"/>
                </a:solidFill>
              </a:rPr>
              <a:t>WHAT PROPER DUE DILIGENCE MUST INCLUDE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1792224"/>
            <a:ext cx="6720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✅  Verify revenue AT SUBSIDIARY LEVEL — not just consolidated numbers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267712"/>
            <a:ext cx="6720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✅  Demand independent audit of ALL material overseas entities (GGR was the key miss)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743200"/>
            <a:ext cx="6720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✅  Cross-check trade receivables aging — &gt;90 days = mandatory red flag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3218688"/>
            <a:ext cx="6720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✅  Confirm 3rd-party transactions by contacting counterparties DIRECTLY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3694176"/>
            <a:ext cx="6720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✅  Validate all disclosed assets with ownership docs and independent valuation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4169664"/>
            <a:ext cx="6720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✅  Screen related-party disclosures against actual banking fund flows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4645152"/>
            <a:ext cx="6720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✅  Scrutinize revenue concentration &gt;50% in any single entity or region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5120640"/>
            <a:ext cx="6720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✅  Monitor promoter personal financial activity vs company account flows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5596127"/>
            <a:ext cx="6720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✅  Request ERP/system access — refusal is itself a major red flag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D4AF37"/>
                </a:solidFill>
              </a:rPr>
              <a:t>COMPLIANCE LESSONS FOR UAE GOLD INDUSTRY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Direct application for gold traders, refiners &amp; dealers in the UAE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780776" y="1115568"/>
            <a:ext cx="1115568" cy="13716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35640" y="1170432"/>
            <a:ext cx="100584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alcambi_im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170432"/>
            <a:ext cx="100584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80776" y="2194560"/>
            <a:ext cx="11155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E6A3"/>
                </a:solidFill>
              </a:rPr>
              <a:t>Gold Refining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61872"/>
            <a:ext cx="5577840" cy="16276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261872"/>
            <a:ext cx="109728" cy="16276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35331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</a:rPr>
              <a:t>REVENUE RECOGNITION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37360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Refiners book PROCESSING FEE only — NOT full market value of client gold.
Rajesh Exports' core fraud was booking gross gold value as revenue.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8" y="1261872"/>
            <a:ext cx="5577840" cy="16276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1261872"/>
            <a:ext cx="109728" cy="16276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8" y="135331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</a:rPr>
              <a:t>SUBSIDIARY AUDIT TRAIL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1737360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Every overseas entity in your group must be independently audited.
Consolidated numbers without subsidiary verification = fraud hiding place.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99232"/>
            <a:ext cx="5577840" cy="16276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99232"/>
            <a:ext cx="109728" cy="1627632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0906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3B3B"/>
                </a:solidFill>
              </a:rPr>
              <a:t>RELATED PARTY TRANSPARENCY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474720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CBUAE, DMCC &amp; DIFC require full RPT disclosure.
Board-approved + disclosed = compliant. Hidden = regulatory action.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8" y="2999232"/>
            <a:ext cx="5577840" cy="16276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2999232"/>
            <a:ext cx="109728" cy="16276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8" y="30906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TRADE RECEIVABLES MONITORING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3474720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Outstanding receivables &gt;90 days = escalation to compliance/board.
This exact trigger exposed the Rajesh Exports fraud.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736592"/>
            <a:ext cx="5577840" cy="16276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736592"/>
            <a:ext cx="109728" cy="162763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828031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B59B6"/>
                </a:solidFill>
              </a:rPr>
              <a:t>COUNTERPARTY VERIFICATION (AML)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212079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Independently verify ALL counterparties confirm their transactions.
Fake Affluence entries would FAIL a basic FATF CDD check.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36208" y="4736592"/>
            <a:ext cx="5577840" cy="16276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36208" y="4736592"/>
            <a:ext cx="109728" cy="162763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8" y="4828031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BC9C"/>
                </a:solidFill>
              </a:rPr>
              <a:t>ASSET DOCUMENTATION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4808" y="5212079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Gold inventory, mining assets, collateral claims MUST have ownership docs,
independent valuations, third-party confirmation — no assertion without evidence.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D4AF37"/>
                </a:solidFill>
              </a:rPr>
              <a:t>THE NUMBERS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Everything you need to remember — in one slide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283464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2834640" cy="64008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03B3B"/>
                </a:solidFill>
              </a:rPr>
              <a:t>₹15.15
Lakh Crore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67128"/>
            <a:ext cx="2651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Revenue allegedly misrepresented
(FY21–25)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18688" y="1234440"/>
            <a:ext cx="283464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18688" y="1234440"/>
            <a:ext cx="2834640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128" y="13716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8C00"/>
                </a:solidFill>
              </a:rPr>
              <a:t>99%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2167128"/>
            <a:ext cx="2651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Of consolidated revenue
that could NOT be verified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3056" y="1234440"/>
            <a:ext cx="283464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234440"/>
            <a:ext cx="2834640" cy="64008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4496" y="13716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03B3B"/>
                </a:solidFill>
              </a:rPr>
              <a:t>₹12,726 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4496" y="2167128"/>
            <a:ext cx="2651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Shareholder wealth
destroyed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07424" y="1234440"/>
            <a:ext cx="283464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07424" y="1234440"/>
            <a:ext cx="2834640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98864" y="13716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8C00"/>
                </a:solidFill>
              </a:rPr>
              <a:t>₹339 Cr+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8864" y="2167128"/>
            <a:ext cx="2651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Diverted to promoter's
personal derivatives account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246120"/>
            <a:ext cx="283464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246120"/>
            <a:ext cx="2834640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3832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4AF37"/>
                </a:solidFill>
              </a:rPr>
              <a:t>₹10,547 Cr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178808"/>
            <a:ext cx="2651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'Africa gold mines'
— zero documentation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18688" y="3246120"/>
            <a:ext cx="283464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18688" y="3246120"/>
            <a:ext cx="2834640" cy="64008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0128" y="33832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03B3B"/>
                </a:solidFill>
              </a:rPr>
              <a:t>₹11,487 Cr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0128" y="4178808"/>
            <a:ext cx="2651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Fake Affluence sales
(they denied everything)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63056" y="3246120"/>
            <a:ext cx="283464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63056" y="3246120"/>
            <a:ext cx="2834640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54496" y="33832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8C00"/>
                </a:solidFill>
              </a:rPr>
              <a:t>₹215 Cr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54496" y="4178808"/>
            <a:ext cx="2651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Net outflow to Elest EV
(undisclosed related party)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07424" y="3246120"/>
            <a:ext cx="283464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07424" y="3246120"/>
            <a:ext cx="2834640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98864" y="33832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4AF37"/>
                </a:solidFill>
              </a:rPr>
              <a:t>10.79%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98864" y="4178808"/>
            <a:ext cx="2651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LIC's stake —
public money at risk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4AF37"/>
                </a:solidFill>
              </a:rPr>
              <a:t>KEY TAKEAWAYS</a:t>
            </a:r>
          </a:p>
        </p:txBody>
      </p:sp>
      <p:pic>
        <p:nvPicPr>
          <p:cNvPr id="5" name="Picture 4" descr="sebi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137160"/>
            <a:ext cx="1371600" cy="820217"/>
          </a:xfrm>
          <a:prstGeom prst="rect">
            <a:avLst/>
          </a:prstGeom>
        </p:spPr>
      </p:pic>
      <p:pic>
        <p:nvPicPr>
          <p:cNvPr id="6" name="Picture 5" descr="rajesh_export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37160"/>
            <a:ext cx="1371600" cy="110825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5760" y="804672"/>
            <a:ext cx="11430000" cy="51206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804672"/>
            <a:ext cx="82296" cy="5120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90525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Rajesh Exports = India's largest alleged revenue fraud — ₹15.15 lakh crore over 5 years (bigger than Harshad Mehta by 3,787×)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399032"/>
            <a:ext cx="11430000" cy="51206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399032"/>
            <a:ext cx="82296" cy="5120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49961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4-layer offshore structure: REL → REL Singapore → GGR → Valcambi. Middle entity GGR was NEVER independently audited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993392"/>
            <a:ext cx="11430000" cy="51206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993392"/>
            <a:ext cx="82296" cy="5120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09397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Affluence Securities: promoter moved ₹339 Cr to personal account, bet on F&amp;O, booked losses as company sales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587752"/>
            <a:ext cx="11430000" cy="51206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587752"/>
            <a:ext cx="82296" cy="5120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268833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Africa mines: ₹1,035 Cr → ₹10,547 Cr in 2 years — ZERO ownership documentation, possibly completely fictitious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182112"/>
            <a:ext cx="11430000" cy="51206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182112"/>
            <a:ext cx="82296" cy="5120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328269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Basic due diligence (receivable aging + counterparty verification + subsidiary audit) could have exposed this years earlier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776472"/>
            <a:ext cx="11430000" cy="51206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776472"/>
            <a:ext cx="82296" cy="5120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87705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UAE gold industry: gross gold value ≠ refiner revenue — only the processing/refining fee is your income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370832"/>
            <a:ext cx="11430000" cy="51206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370832"/>
            <a:ext cx="82296" cy="5120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447141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LIC's 10.79% loss shows no institution is immune — compliance cannot rely on someone else to catch fraud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852160"/>
            <a:ext cx="11430000" cy="749808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5852160"/>
            <a:ext cx="1143000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943600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E6A3"/>
                </a:solidFill>
              </a:rPr>
              <a:t>Follow VedasVision for weekly Compliance &amp; Gold Industry insights  |  Share this with your team — knowledge protects your business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